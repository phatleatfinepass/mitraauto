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25cb477a5f413c" /><Relationship Type="http://schemas.openxmlformats.org/officeDocument/2006/relationships/extended-properties" Target="/docProps/app.xml" Id="R11a0a9aa27ad40d3" /><Relationship Type="http://schemas.openxmlformats.org/officeDocument/2006/relationships/officeDocument" Target="/ppt/presentation.xml" Id="Rf923131bd7fe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c30bc00c94934"/>
  </p:sldMasterIdLst>
  <p:notesMasterIdLst>
    <p:notesMasterId xmlns:r="http://schemas.openxmlformats.org/officeDocument/2006/relationships" r:id="Re0ed656532c74e7c"/>
  </p:notesMasterIdLst>
  <p:sldIdLst>
    <p:sldId xmlns:r="http://schemas.openxmlformats.org/officeDocument/2006/relationships" id="256" r:id="R633042990eed41ad"/>
    <p:sldId xmlns:r="http://schemas.openxmlformats.org/officeDocument/2006/relationships" id="257" r:id="R287510af287347d8"/>
    <p:sldId xmlns:r="http://schemas.openxmlformats.org/officeDocument/2006/relationships" id="258" r:id="R4a0f426ad7ba4515"/>
    <p:sldId xmlns:r="http://schemas.openxmlformats.org/officeDocument/2006/relationships" id="259" r:id="R64b651233c9e469b"/>
    <p:sldId xmlns:r="http://schemas.openxmlformats.org/officeDocument/2006/relationships" id="260" r:id="Rc41e22bb62de4628"/>
    <p:sldId xmlns:r="http://schemas.openxmlformats.org/officeDocument/2006/relationships" id="261" r:id="R21e8928d158f4769"/>
    <p:sldId xmlns:r="http://schemas.openxmlformats.org/officeDocument/2006/relationships" id="262" r:id="Ra21b759fe5284d93"/>
    <p:sldId xmlns:r="http://schemas.openxmlformats.org/officeDocument/2006/relationships" id="263" r:id="R10fc263b04e84d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c30bc00c94934" /><Relationship Type="http://schemas.openxmlformats.org/officeDocument/2006/relationships/theme" Target="/ppt/theme/theme1.xml" Id="R8c11cc1a00c443bd" /><Relationship Type="http://schemas.openxmlformats.org/officeDocument/2006/relationships/notesMaster" Target="/ppt/notesMasters/notesMaster1.xml" Id="Re0ed656532c74e7c" /><Relationship Type="http://schemas.openxmlformats.org/officeDocument/2006/relationships/presProps" Target="/ppt/presProps.xml" Id="Redd1e2d413f0408f" /><Relationship Type="http://schemas.openxmlformats.org/officeDocument/2006/relationships/viewProps" Target="/ppt/viewProps.xml" Id="Re268cf2e22644ba5" /><Relationship Type="http://schemas.openxmlformats.org/officeDocument/2006/relationships/tableStyles" Target="/ppt/tableStyles.xml" Id="R111b09193b784559" /><Relationship Type="http://schemas.openxmlformats.org/officeDocument/2006/relationships/slide" Target="/ppt/slides/slide1.xml" Id="R633042990eed41ad" /><Relationship Type="http://schemas.openxmlformats.org/officeDocument/2006/relationships/slide" Target="/ppt/slides/slide2.xml" Id="R287510af287347d8" /><Relationship Type="http://schemas.openxmlformats.org/officeDocument/2006/relationships/slide" Target="/ppt/slides/slide3.xml" Id="R4a0f426ad7ba4515" /><Relationship Type="http://schemas.openxmlformats.org/officeDocument/2006/relationships/slide" Target="/ppt/slides/slide4.xml" Id="R64b651233c9e469b" /><Relationship Type="http://schemas.openxmlformats.org/officeDocument/2006/relationships/slide" Target="/ppt/slides/slide5.xml" Id="Rc41e22bb62de4628" /><Relationship Type="http://schemas.openxmlformats.org/officeDocument/2006/relationships/slide" Target="/ppt/slides/slide6.xml" Id="R21e8928d158f4769" /><Relationship Type="http://schemas.openxmlformats.org/officeDocument/2006/relationships/slide" Target="/ppt/slides/slide7.xml" Id="Ra21b759fe5284d93" /><Relationship Type="http://schemas.openxmlformats.org/officeDocument/2006/relationships/slide" Target="/ppt/slides/slide8.xml" Id="R10fc263b04e84d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dd8397893e94c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d4bb567a794e9a" /><Relationship Type="http://schemas.openxmlformats.org/officeDocument/2006/relationships/notesMaster" Target="/ppt/notesMasters/notesMaster1.xml" Id="Red7196179576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2da022ccb24fb0" /><Relationship Type="http://schemas.openxmlformats.org/officeDocument/2006/relationships/notesMaster" Target="/ppt/notesMasters/notesMaster1.xml" Id="R5d06d6ee2bc2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8c4c6782464460" /><Relationship Type="http://schemas.openxmlformats.org/officeDocument/2006/relationships/notesMaster" Target="/ppt/notesMasters/notesMaster1.xml" Id="Rb699c0afb46340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5b1ed841ee43bb" /><Relationship Type="http://schemas.openxmlformats.org/officeDocument/2006/relationships/notesMaster" Target="/ppt/notesMasters/notesMaster1.xml" Id="Rdae2243796084d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48794407ae417d" /><Relationship Type="http://schemas.openxmlformats.org/officeDocument/2006/relationships/notesMaster" Target="/ppt/notesMasters/notesMaster1.xml" Id="R844e999b1aaf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84d57b88247a1" /><Relationship Type="http://schemas.openxmlformats.org/officeDocument/2006/relationships/notesMaster" Target="/ppt/notesMasters/notesMaster1.xml" Id="R2c70a917527641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1c88e7fc844927" /><Relationship Type="http://schemas.openxmlformats.org/officeDocument/2006/relationships/notesMaster" Target="/ppt/notesMasters/notesMaster1.xml" Id="R5516a723b0b745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d60ff1ca6947c5" /><Relationship Type="http://schemas.openxmlformats.org/officeDocument/2006/relationships/notesMaster" Target="/ppt/notesMasters/notesMaster1.xml" Id="R6accfe496ec04b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f111b257845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eb90c41f9b94f02" /><Relationship Type="http://schemas.openxmlformats.org/officeDocument/2006/relationships/slideLayout" Target="/ppt/slideLayouts/slideLayout2.xml" Id="R44bb32b43186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b32b43186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c72cba4c454fdd" /><Relationship Type="http://schemas.openxmlformats.org/officeDocument/2006/relationships/notesSlide" Target="/ppt/notesSlides/notesSlide1.xml" Id="R1a83382d6c324a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eea1183cc14640" /><Relationship Type="http://schemas.openxmlformats.org/officeDocument/2006/relationships/image" Target="/ppt/media/image.png" Id="Rb65219d86dec4bb4" /><Relationship Type="http://schemas.openxmlformats.org/officeDocument/2006/relationships/image" Target="/ppt/media/image.svg" Id="R56f3b36c599f40be" /><Relationship Type="http://schemas.openxmlformats.org/officeDocument/2006/relationships/image" Target="/ppt/media/image2.png" Id="R30a0832fe47c434b" /><Relationship Type="http://schemas.openxmlformats.org/officeDocument/2006/relationships/image" Target="/ppt/media/image2.svg" Id="R9209a76b62a64c0c" /><Relationship Type="http://schemas.openxmlformats.org/officeDocument/2006/relationships/image" Target="/ppt/media/image3.png" Id="R4c9aa7a87c3f4037" /><Relationship Type="http://schemas.openxmlformats.org/officeDocument/2006/relationships/image" Target="/ppt/media/image3.svg" Id="Reee3fad6249f43d3" /><Relationship Type="http://schemas.openxmlformats.org/officeDocument/2006/relationships/image" Target="/ppt/media/image4.png" Id="Rfb3a7bf403714a21" /><Relationship Type="http://schemas.openxmlformats.org/officeDocument/2006/relationships/image" Target="/ppt/media/image4.svg" Id="Raf4317de94ee425f" /><Relationship Type="http://schemas.openxmlformats.org/officeDocument/2006/relationships/image" Target="/ppt/media/image5.png" Id="Re0f0d67610c54c43" /><Relationship Type="http://schemas.openxmlformats.org/officeDocument/2006/relationships/image" Target="/ppt/media/image5.svg" Id="Rca70e55ef9ee44f5" /><Relationship Type="http://schemas.openxmlformats.org/officeDocument/2006/relationships/notesSlide" Target="/ppt/notesSlides/notesSlide2.xml" Id="R1b0992b0050841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87676dc3374cff" /><Relationship Type="http://schemas.openxmlformats.org/officeDocument/2006/relationships/image" Target="/ppt/media/image6.png" Id="Rc6078e73565c4049" /><Relationship Type="http://schemas.openxmlformats.org/officeDocument/2006/relationships/image" Target="/ppt/media/image6.svg" Id="R1b5f18e7ed2f443a" /><Relationship Type="http://schemas.openxmlformats.org/officeDocument/2006/relationships/image" Target="/ppt/media/image7.png" Id="R1248666185854e22" /><Relationship Type="http://schemas.openxmlformats.org/officeDocument/2006/relationships/image" Target="/ppt/media/image7.svg" Id="R53a7ee5e93494ae3" /><Relationship Type="http://schemas.openxmlformats.org/officeDocument/2006/relationships/image" Target="/ppt/media/image8.png" Id="R15a84631d3ac40c6" /><Relationship Type="http://schemas.openxmlformats.org/officeDocument/2006/relationships/image" Target="/ppt/media/image8.svg" Id="R81bbc4782db9421e" /><Relationship Type="http://schemas.openxmlformats.org/officeDocument/2006/relationships/image" Target="/ppt/media/image9.png" Id="Rd96cccee503646c8" /><Relationship Type="http://schemas.openxmlformats.org/officeDocument/2006/relationships/image" Target="/ppt/media/image9.svg" Id="Rb5d6ce43d36e4569" /><Relationship Type="http://schemas.openxmlformats.org/officeDocument/2006/relationships/notesSlide" Target="/ppt/notesSlides/notesSlide3.xml" Id="R3aa19b8bd05447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bf20bee52f4d93" /><Relationship Type="http://schemas.openxmlformats.org/officeDocument/2006/relationships/image" Target="/ppt/media/image10.png" Id="Rfd4eae219aff403a" /><Relationship Type="http://schemas.openxmlformats.org/officeDocument/2006/relationships/image" Target="/ppt/media/image10.svg" Id="Rc631045ad20743d6" /><Relationship Type="http://schemas.openxmlformats.org/officeDocument/2006/relationships/image" Target="/ppt/media/image11.png" Id="Rff21ce4ae1104765" /><Relationship Type="http://schemas.openxmlformats.org/officeDocument/2006/relationships/image" Target="/ppt/media/image11.svg" Id="Rc82b222b189e4d50" /><Relationship Type="http://schemas.openxmlformats.org/officeDocument/2006/relationships/image" Target="/ppt/media/image12.png" Id="Rf2c597dfe1f84c7f" /><Relationship Type="http://schemas.openxmlformats.org/officeDocument/2006/relationships/image" Target="/ppt/media/image12.svg" Id="R48249823d5b048df" /><Relationship Type="http://schemas.openxmlformats.org/officeDocument/2006/relationships/image" Target="/ppt/media/image13.png" Id="R9936b1dfafea44bd" /><Relationship Type="http://schemas.openxmlformats.org/officeDocument/2006/relationships/image" Target="/ppt/media/image13.svg" Id="R6efc5387c58a4921" /><Relationship Type="http://schemas.openxmlformats.org/officeDocument/2006/relationships/image" Target="/ppt/media/image14.png" Id="R03fedc67b6d04bb9" /><Relationship Type="http://schemas.openxmlformats.org/officeDocument/2006/relationships/image" Target="/ppt/media/image14.svg" Id="R54f2df891589468a" /><Relationship Type="http://schemas.openxmlformats.org/officeDocument/2006/relationships/notesSlide" Target="/ppt/notesSlides/notesSlide4.xml" Id="Rb61c622c90ba40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dfacc7261b4532" /><Relationship Type="http://schemas.openxmlformats.org/officeDocument/2006/relationships/image" Target="/ppt/media/image15.png" Id="Rf5ad821d76de4e74" /><Relationship Type="http://schemas.openxmlformats.org/officeDocument/2006/relationships/image" Target="/ppt/media/image15.svg" Id="Reba7c01705c24e62" /><Relationship Type="http://schemas.openxmlformats.org/officeDocument/2006/relationships/image" Target="/ppt/media/image16.png" Id="R74508589f8774b36" /><Relationship Type="http://schemas.openxmlformats.org/officeDocument/2006/relationships/image" Target="/ppt/media/image16.svg" Id="R47b5cd4a01f5444c" /><Relationship Type="http://schemas.openxmlformats.org/officeDocument/2006/relationships/image" Target="/ppt/media/image17.png" Id="R8b82b1a0620b4fdb" /><Relationship Type="http://schemas.openxmlformats.org/officeDocument/2006/relationships/image" Target="/ppt/media/image17.svg" Id="R1d26276a77314b5d" /><Relationship Type="http://schemas.openxmlformats.org/officeDocument/2006/relationships/notesSlide" Target="/ppt/notesSlides/notesSlide5.xml" Id="R6ec75f782c5c45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a5e3e440841e5" /><Relationship Type="http://schemas.openxmlformats.org/officeDocument/2006/relationships/image" Target="/ppt/media/image18.png" Id="Re949c42b0c0e41fb" /><Relationship Type="http://schemas.openxmlformats.org/officeDocument/2006/relationships/image" Target="/ppt/media/image18.svg" Id="R3c1ce431aaf94f33" /><Relationship Type="http://schemas.openxmlformats.org/officeDocument/2006/relationships/image" Target="/ppt/media/image19.png" Id="R4ce916d0a0304cc3" /><Relationship Type="http://schemas.openxmlformats.org/officeDocument/2006/relationships/image" Target="/ppt/media/image19.svg" Id="R66a52b33320f48ee" /><Relationship Type="http://schemas.openxmlformats.org/officeDocument/2006/relationships/image" Target="/ppt/media/image20.png" Id="Rd0fc51ec4d9e4cd9" /><Relationship Type="http://schemas.openxmlformats.org/officeDocument/2006/relationships/image" Target="/ppt/media/image20.svg" Id="R40ed206f6f5d4323" /><Relationship Type="http://schemas.openxmlformats.org/officeDocument/2006/relationships/image" Target="/ppt/media/image21.png" Id="R8df51b1e43434251" /><Relationship Type="http://schemas.openxmlformats.org/officeDocument/2006/relationships/image" Target="/ppt/media/image21.svg" Id="R1f555b711e2447c8" /><Relationship Type="http://schemas.openxmlformats.org/officeDocument/2006/relationships/notesSlide" Target="/ppt/notesSlides/notesSlide6.xml" Id="Rfc00b385322847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898b9a00a5408d" /><Relationship Type="http://schemas.openxmlformats.org/officeDocument/2006/relationships/notesSlide" Target="/ppt/notesSlides/notesSlide7.xml" Id="Rcd0031d0192b42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f76e385a2943aa" /><Relationship Type="http://schemas.openxmlformats.org/officeDocument/2006/relationships/image" Target="/ppt/media/image22.png" Id="Rc79e7014933144e4" /><Relationship Type="http://schemas.openxmlformats.org/officeDocument/2006/relationships/image" Target="/ppt/media/image22.svg" Id="R92217926b1934bbf" /><Relationship Type="http://schemas.openxmlformats.org/officeDocument/2006/relationships/image" Target="/ppt/media/image23.png" Id="R3bb0d0844d9e4ebf" /><Relationship Type="http://schemas.openxmlformats.org/officeDocument/2006/relationships/image" Target="/ppt/media/image23.svg" Id="R638b32ad84644d36" /><Relationship Type="http://schemas.openxmlformats.org/officeDocument/2006/relationships/image" Target="/ppt/media/image24.png" Id="Rc73b23aac624489a" /><Relationship Type="http://schemas.openxmlformats.org/officeDocument/2006/relationships/image" Target="/ppt/media/image24.svg" Id="R7f96f19dbbec476c" /><Relationship Type="http://schemas.openxmlformats.org/officeDocument/2006/relationships/image" Target="/ppt/media/image25.png" Id="Ra873a9caa8d34e18" /><Relationship Type="http://schemas.openxmlformats.org/officeDocument/2006/relationships/image" Target="/ppt/media/image25.svg" Id="R5d6649bc70ec4a9d" /><Relationship Type="http://schemas.openxmlformats.org/officeDocument/2006/relationships/notesSlide" Target="/ppt/notesSlides/notesSlide8.xml" Id="Rd31c337f3c2c40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676CF-29F4-432B-8D06-8C7456A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DC874-C545-423C-A842-19B62AE5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9CB7C-84F3-429C-B2C9-74695C4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D0BF5-DC7F-4E15-AF7A-9F815C44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3971A-4A00-4EE8-8F63-FAD4483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PRODUCT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0E0F4-9767-47D3-879E-52858F08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Mitra Auto is becoming a connected service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92182-A000-4F6A-B174-70512F4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The codebase describes more than a brochure site: it links booking, catalog commerce, admin scheduling, invoicing, rescue triage, and a mobile CMS handoff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151C1-F14B-43FA-B032-7C1D5479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0550"/>
            <a:ext cx="3143250" cy="5619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1D034-778B-4407-A782-0435C4E5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52500"/>
            <a:ext cx="2647950" cy="49530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2A30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9EF1E-2777-48AE-94A4-85BDFFAB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00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MITRA AUTO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6C08B-0305-476D-B0DD-97AA49E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Book, buy, and manage car care from one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90313-5462-4BD5-983A-6234F658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402FF-AA1F-448E-8498-0D6349A0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License 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27A59-E8EA-4E29-B272-0BA23F2C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95CA"/>
          </a:solidFill>
          <a:ln xmlns:a="http://schemas.openxmlformats.org/drawingml/2006/main" w="9525">
            <a:solidFill>
              <a:srgbClr val="0F9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2D76E-0429-4872-A536-46469D8E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75BAF-6E4F-4F4F-8495-AC167FE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82DE2-B9A3-4952-BA33-64D08DF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86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Tyres + rims 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46C0F-6CBF-4731-92C0-194B6C42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EU labels, inventory, price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25149-D45D-403E-B57B-3042FCEA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67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E1A181-8EEE-41A7-98B9-8AD524F9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5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Workshop schedule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9DE1B-56AA-403F-B534-7BAA64D4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05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Bookings, blocked slots,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9CC19-9111-4940-AEA9-6707C27F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7957"/>
          </a:solidFill>
          <a:ln xmlns:a="http://schemas.openxmlformats.org/drawingml/2006/main" w="9525">
            <a:solidFill>
              <a:srgbClr val="F479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96B3B-BB89-4859-AA9F-523A39B8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7880F-29DB-4074-901F-DA702FE5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710D9-57B2-4BAC-8164-15C20349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Core 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D9389-6A24-4F13-8A4E-571E37E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5105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A local auto service business can act like a modern operating system when customer demand, catalog intelligence, and shop capacity are designed as one loop.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4CABD-8672-4572-8386-AAA0E31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508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4A3DF-C833-463A-967A-E304DF2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This deck explains the product system and clarifies the Star function in the UI.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81B44-E124-4082-AE06-20C97E6D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Mitra Auto product overview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B1C2E2-0DF7-4B5E-B92C-6632D577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72555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740F2-1911-4E29-AD98-96D9DC3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EC9B9-EBCE-4B7F-8291-DC9CD3D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609E1-D42E-4EAD-A203-B4A2F16D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77B98-E1DD-4B64-9040-93E1703A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ED84D-7256-4FE4-A4F9-3CE71B04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PLATFORM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57CFC-CF7B-4388-AD36-7E20E5A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The product is organized around one demand-to-capacity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95978-E1A9-4630-8E0C-E42F088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Customer-facing flows and admin tools share the same operational spine: bookings, stock/catalog data, schedule capacity, payments, and service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53508-EB7F-49C2-9BE0-BAA6E02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152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AE448-746D-4E87-9FBC-9C2BADF9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219d86dec4bb4">
            <a:extLst>
              <a:ext uri="{96DAC541-7B7A-43D3-8B79-37D633B846F1}">
                <asvg:svgBlip xmlns:asvg="http://schemas.microsoft.com/office/drawing/2016/SVG/main" r:embed="R56f3b36c599f40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3333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D5235-3A3A-45BA-92F3-50992FC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147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Customer 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C433B-15EC-4F95-A81B-991F014F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576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Services, catalog, booking,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073F9-ADA4-4961-A5E7-4992B396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2305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33011-E658-46D1-80D5-28EC5DB9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0832fe47c434b">
            <a:extLst>
              <a:ext uri="{96DAC541-7B7A-43D3-8B79-37D633B846F1}">
                <asvg:svgBlip xmlns:asvg="http://schemas.microsoft.com/office/drawing/2016/SVG/main" r:embed="R9209a76b62a64c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24300" y="26289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B783E-634A-460A-B94B-824AAAAC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Booking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23BC9-EFC0-43C4-8B0F-91D5F5B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Plate, time slot, service bundle, contact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25093-A663-4B22-A6F9-976ABFD2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2305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A4956-381A-4D4B-99FB-C4A4FAF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aa7a87c3f4037">
            <a:extLst>
              <a:ext uri="{96DAC541-7B7A-43D3-8B79-37D633B846F1}">
                <asvg:svgBlip xmlns:asvg="http://schemas.microsoft.com/office/drawing/2016/SVG/main" r:embed="Reee3fad6249f43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24300" y="4514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4F1CC-E5D9-4EDC-8D93-16C0DA9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958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Catalog commerce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EF7A4-9C28-452F-9752-3087CB71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387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Tyres, rims, labels, pricing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CE35E-AFD4-4BD0-84E3-8CF097B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DD397-70E8-4673-9561-F84AEB91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a7bf403714a21">
            <a:extLst>
              <a:ext uri="{96DAC541-7B7A-43D3-8B79-37D633B846F1}">
                <asvg:svgBlip xmlns:asvg="http://schemas.microsoft.com/office/drawing/2016/SVG/main" r:embed="Raf4317de94ee42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600" y="3333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589C7-6F36-4087-9247-7C5D01F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147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Admin CMS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9E1B8-C93C-40B1-9761-F09E98D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57600"/>
            <a:ext cx="156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Schedule, invoices, rescue, conversations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7DFB9-2410-4FB5-8DAB-FAB8E1F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695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6C2E8-3198-46CB-9A24-D56C5514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0d67610c54c43">
            <a:extLst>
              <a:ext uri="{96DAC541-7B7A-43D3-8B79-37D633B846F1}">
                <asvg:svgBlip xmlns:asvg="http://schemas.microsoft.com/office/drawing/2016/SVG/main" r:embed="Rca70e55ef9ee44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39350" y="33337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852DB-D5B5-49B8-BC3F-B92CE60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147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PWA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7A20B-59F9-4CE5-8FB8-26B4F64F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91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Mobile queues for staff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4AE66-7362-46B2-81B3-5EA04F0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43313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716529-CB87-4E2E-A191-1308465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63" y="3657600"/>
            <a:ext cx="28575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F920BE-C2CF-4DA1-BA23-1C1848B1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86088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8A392-4AD8-4DD4-884D-027E64A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463" y="3657600"/>
            <a:ext cx="28575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3D8CC-5EE7-4B3E-9AFB-C1AE0B57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43313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89FECE-C65D-4840-ADD9-77372754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76900"/>
            <a:ext cx="8610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F4C7B8-C931-4A24-BFCA-7056BCC8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4835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Operating loop: demand captured digitally -&gt; capacity controlled by staff -&gt; fulfillment and follow-up stays visible.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B1DA48-F197-4772-811A-9F756A55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Mitra Auto product overview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7E45D2-8BFD-41EC-839C-AD903AB3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5553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87D7F-D1B3-486D-9405-6E958CDD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2C13-51D8-4172-96B0-B1AD128A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33F4F-5936-48CB-816B-743A4D6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1070C-13C0-4113-9EC5-35E0AD33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B9C01-444F-4514-87E5-E87DD6E9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CUSTOMER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EA340-87AB-46C6-A612-3C702CF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Booking is structured as a guided conversion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88272-F6B5-473C-96A7-2D7FC38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The booking modal collects enough operational data for the shop while keeping the customer path short: vehicle, time, service bundle, contact, confirmation.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7D467-8500-40FB-AB00-2DB44913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2669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66309-B1EE-4AF0-BCD8-F8427A8B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1AFA9-99B4-4EF6-A563-59087AF0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5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95C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78e73565c4049">
            <a:extLst>
              <a:ext uri="{96DAC541-7B7A-43D3-8B79-37D633B846F1}">
                <asvg:svgBlip xmlns:asvg="http://schemas.microsoft.com/office/drawing/2016/SVG/main" r:embed="R1b5f18e7ed2f44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33650" y="3200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CD243-9037-45A6-8296-377FEFF9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Find the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6A8E2-F64E-4388-874E-C475EB1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Services page or catalog product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68D4D-EC04-4436-AA97-2EA4AD7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47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5F8A8-F800-45E4-949A-D88D5EB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22669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79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B5A80-B4FC-43AE-9923-5DFB4B2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22EDD-D026-4FC2-99B2-A1C47C0D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76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8666185854e22">
            <a:extLst>
              <a:ext uri="{96DAC541-7B7A-43D3-8B79-37D633B846F1}">
                <asvg:svgBlip xmlns:asvg="http://schemas.microsoft.com/office/drawing/2016/SVG/main" r:embed="R53a7ee5e93494a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19700" y="3200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B2AB9-AB21-4531-82B9-0C53B49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Choose vehicle + slot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124E5-45E0-42C3-9402-A4C950F4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291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License plate, date, 30-minute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F2437-C028-43A7-920F-CB5F9BE7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47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9BA70-19EA-437E-B1CD-D04817B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22669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D8BE6-3FA4-4D7A-8170-5F06A6F7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72834-9674-41BB-8202-BCA9FBC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5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95C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84631d3ac40c6">
            <a:extLst>
              <a:ext uri="{96DAC541-7B7A-43D3-8B79-37D633B846F1}">
                <asvg:svgBlip xmlns:asvg="http://schemas.microsoft.com/office/drawing/2016/SVG/main" r:embed="R81bbc4782db942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0" y="3200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6C1DB-0462-4154-9CDF-FA98E603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Select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51F24-D393-4CF4-8EE7-6B85C7BC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Single or multiple service IDs with contact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F89DEB-7852-424B-AFA9-A3B76B51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4763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1B73D7-1A30-4D05-B42F-8AE2651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2669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8549B-8EDB-4FDC-A1FC-8A6A96C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5D165-831A-4C2D-82AF-86EDB4A1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766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5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95C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cccee503646c8">
            <a:extLst>
              <a:ext uri="{96DAC541-7B7A-43D3-8B79-37D633B846F1}">
                <asvg:svgBlip xmlns:asvg="http://schemas.microsoft.com/office/drawing/2016/SVG/main" r:embed="Rb5d6ce43d36e45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91800" y="3200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D7098A-864A-4FD0-AAC2-3337E5A8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909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Confirm + manage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3952AC-55DD-479B-A246-B12A0A0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291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Checkout, success page, booking manage URL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A64E74-CB9B-4371-A8AB-A3D4A91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181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7FAA77-CE24-4FFC-89F5-5FBEB9BA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2934D-7BB3-4FAA-9A4C-EA50107E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Every field has operational meaning: the plate identifies the vehicle, the slot controls capacity, selected services drive duration/price, and notes prepare the technician.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7B3F9C-6695-4E3B-B2C3-2F08457E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Mitra Auto product overview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82A281-20E2-4279-9D61-9098B4C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75450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3A2DA-244F-413D-83EE-EBF6C85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1F3FB-3A36-4211-A304-9FA3B48A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017ED-F78D-45CD-9009-3A01E6F5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F4483-3FC9-4267-9C92-16206B26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D5B17-605F-4850-BFC0-71FDB56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OPERATIONS COCKPIT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2654E-3015-48BA-8BD8-D71A4269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The admin side turns bookings into controlled workshop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FE30F-2E1A-4425-BD71-C45C80AE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Schedule management is the practical core: staff can inspect 30-minute slots, block unavailable capacity, manage bookings, and keep customer communication attached.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8DF60-56C5-4603-BBED-1CC9B794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858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41BF5-A068-4E9E-B3B7-4D1227D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Daily schedule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9C3A4-DAD7-4120-8672-2285A251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9567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09:00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9AD0E-9387-403A-9D79-6BBFFD8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521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A84E7-9AEE-4CAC-84C2-8061C3E7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766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3FBB5-1358-49DF-A566-9A92CC1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52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09:30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C7034-0660-4B59-845B-F626787E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521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95CA"/>
          </a:solidFill>
          <a:ln xmlns:a="http://schemas.openxmlformats.org/drawingml/2006/main" w="9525">
            <a:solidFill>
              <a:srgbClr val="0F9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0A3B2-0887-4BEB-A814-FAA74BB4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0047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Booked: license plate +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C4E78-AA10-471E-A51F-C4319F2D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10:00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1981A-CDF8-4E04-B2F7-AC23FE0C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521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C071E-2683-4F2E-B66D-D6B21F8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243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D5E29-05A5-4641-9333-A4BC4A95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6722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10:30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34B13-3990-4D50-B028-67B8EC2C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521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4F4F"/>
          </a:solidFill>
          <a:ln xmlns:a="http://schemas.openxmlformats.org/drawingml/2006/main" w="9525">
            <a:solidFill>
              <a:srgbClr val="E94F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52067-9A04-449A-88A7-7C235535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4817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Blocked: equipment maintenance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4363B-9EE6-4C63-8ADA-947E8208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11:00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0847C-A7FE-47F8-802A-CDFFFB93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521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95CA"/>
          </a:solidFill>
          <a:ln xmlns:a="http://schemas.openxmlformats.org/drawingml/2006/main" w="9525">
            <a:solidFill>
              <a:srgbClr val="0F95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8FB91-7E74-4389-8330-3024ECB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7202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Booked: license plate + details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F4345-7076-4496-8B60-6E30E4E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11:30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98959-1ACD-4BDD-9476-B7F4856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521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EEF2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9A8C0-BB75-4B4A-8D08-735012A9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1327B-7DC9-4424-8842-29FBC00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3028950" cy="308610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EBE56-3E58-432F-A7A1-7D25217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capabilities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eae219aff403a">
            <a:extLst>
              <a:ext uri="{96DAC541-7B7A-43D3-8B79-37D633B846F1}">
                <asvg:svgBlip xmlns:asvg="http://schemas.microsoft.com/office/drawing/2016/SVG/main" r:embed="Rc631045ad20743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34099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AB886-FB96-473D-9047-6A9CD48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E2E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E2ED"/>
                </a:solidFill>
                <a:latin typeface="Aptos"/>
                <a:ea typeface="Aptos"/>
                <a:cs typeface="Aptos"/>
              </a:rPr>
              <a:t>Date navigation and business-hour rules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1ce4ae1104765">
            <a:extLst>
              <a:ext uri="{96DAC541-7B7A-43D3-8B79-37D633B846F1}">
                <asvg:svgBlip xmlns:asvg="http://schemas.microsoft.com/office/drawing/2016/SVG/main" r:embed="Rc82b222b189e4d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38100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A1F2C-FF00-47BF-9DF9-966EF42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E2E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E2ED"/>
                </a:solidFill>
                <a:latin typeface="Aptos"/>
                <a:ea typeface="Aptos"/>
                <a:cs typeface="Aptos"/>
              </a:rPr>
              <a:t>Single-slot or rest-of-day blocking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597dfe1f84c7f">
            <a:extLst>
              <a:ext uri="{96DAC541-7B7A-43D3-8B79-37D633B846F1}">
                <asvg:svgBlip xmlns:asvg="http://schemas.microsoft.com/office/drawing/2016/SVG/main" r:embed="R48249823d5b048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42100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91DCF-1231-4173-9D88-B9C377E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E2E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E2ED"/>
                </a:solidFill>
                <a:latin typeface="Aptos"/>
                <a:ea typeface="Aptos"/>
                <a:cs typeface="Aptos"/>
              </a:rPr>
              <a:t>Booking thread communication panel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6b1dfafea44bd">
            <a:extLst>
              <a:ext uri="{96DAC541-7B7A-43D3-8B79-37D633B846F1}">
                <asvg:svgBlip xmlns:asvg="http://schemas.microsoft.com/office/drawing/2016/SVG/main" r:embed="R6efc5387c58a49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46101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7BABB7-4148-44BE-B63B-ADD13EC9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E2E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E2ED"/>
                </a:solidFill>
                <a:latin typeface="Aptos"/>
                <a:ea typeface="Aptos"/>
                <a:cs typeface="Aptos"/>
              </a:rPr>
              <a:t>Order and invoice CMS surfaces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edc67b6d04bb9">
            <a:extLst>
              <a:ext uri="{96DAC541-7B7A-43D3-8B79-37D633B846F1}">
                <asvg:svgBlip xmlns:asvg="http://schemas.microsoft.com/office/drawing/2016/SVG/main" r:embed="R54f2df89158946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501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03478A-510B-4932-98B9-16F7D491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9E2E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9E2ED"/>
                </a:solidFill>
                <a:latin typeface="Aptos"/>
                <a:ea typeface="Aptos"/>
                <a:cs typeface="Aptos"/>
              </a:rPr>
              <a:t>Rescue queue for urgent cases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EBB8FA-904A-4B81-B81C-E3E8C395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9442E9-5AD0-4433-85FE-A001CC4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30 min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3F1844-83F2-4ED4-A551-0DBD122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43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Slot granularity in schedule logic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8845F4-2129-4947-A565-56BA8CD0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00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83247D-6872-4A68-A392-8563040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24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09-18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5D156A-6570-4DD6-AC15-C395CF13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343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Weekday operating window encoded in utilities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2FC0F9-80AB-42E2-A50F-EDE2672A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0075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69191B-8115-4497-99AD-08B16415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924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CMS/PWA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7E9433-4730-4EC6-8EA0-3A2530A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3436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Desktop control with mobile handoff queues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DB34A-66F2-4C1E-88CC-87AB881D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62743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08F993-ADA6-4BD1-88FE-6B221900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CA891-20A5-4F23-BA7E-EC72E42B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894B1-2FC4-4777-B08D-B72C266F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7A83A-EC63-4EE0-80E9-7EB4284D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04FF-636B-4B9A-8CDB-6A5C5B5A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CATALOG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3D16E-D609-4F77-B168-DF929948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Tyres and rims are treated as data products, not static listings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03EAC-259B-460D-B313-972C75F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The catalog code normalizes product data, renders tire/rim cards, supports search modes, and includes EPREL-backed EU tire label enrichment in the CMS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8BE2-D5E6-4934-8C81-CE7C60C6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8956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40BED-D431-40A3-BBD4-D782CD72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Customer search modes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912F7-81B7-44A6-8910-5D6FDF94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EB09-83F7-4601-8217-E535CC5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License 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F9E9C-8DD3-4D3C-A19C-248A82E2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ED04C-E818-4ADC-87A0-3B4D7A24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E4A05-FECD-45E5-B9D1-5536278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576AB-05ED-4104-B56A-383A7EB3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Manual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C29C1-0E46-4401-82B2-08AB2D8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3067050" cy="323850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4AAA4-1275-4F01-9C89-1E21C081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Tyre data enrichment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D88FF-67C5-4A9A-BAC2-12A3657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6CA9F-B249-41EB-A793-F4658DE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0265C-F710-45EC-AE00-26BFF690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48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Brand, model, EAN, size string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96324-2154-4728-B219-2AD2582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719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0320E-A612-45F8-B60A-434C6B3C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52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EU 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021F0-566A-4310-934B-75B0EAD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Fuel, wet grip, noise, QR metadata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0517D-1CAD-4D50-A771-606D30B6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862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52634-AC9B-43C6-99AE-51C032FE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67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3F5F7-E14B-4254-BFEB-2C8B7CE4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76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Stock, supplier, delivery days, price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608CF-32F4-4159-98CF-8891F84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006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4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36BB2-6A05-4F94-BDC4-581AA9EE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815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8CA0C-C8AD-4182-AB1E-1D59000B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91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Titles, descriptions, SEO fields, images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DDB04-307C-4C2D-9DBA-760EFA86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419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D1600-C2C6-4984-A742-16C2114B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Commerce output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d821d76de4e74">
            <a:extLst>
              <a:ext uri="{96DAC541-7B7A-43D3-8B79-37D633B846F1}">
                <asvg:svgBlip xmlns:asvg="http://schemas.microsoft.com/office/drawing/2016/SVG/main" r:embed="Reba7c01705c24e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0" y="367665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08589f8774b36">
            <a:extLst>
              <a:ext uri="{96DAC541-7B7A-43D3-8B79-37D633B846F1}">
                <asvg:svgBlip xmlns:asvg="http://schemas.microsoft.com/office/drawing/2016/SVG/main" r:embed="R47b5cd4a01f544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0" y="367665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2b1a0620b4fdb">
            <a:extLst>
              <a:ext uri="{96DAC541-7B7A-43D3-8B79-37D633B846F1}">
                <asvg:svgBlip xmlns:asvg="http://schemas.microsoft.com/office/drawing/2016/SVG/main" r:embed="R1d26276a77314b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3676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74FB23-8411-4F22-8D0B-B171C35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Product pages can show price, imagery, fitment, regulated label data, and operational availability.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0BA3CF-9CEC-4D64-93F3-B3FF021A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4313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EEF69-9629-462D-AAF4-26DDACAD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243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415F3E-8E45-4505-8C9F-1E6BB4B0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Mitra Auto product overview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353919-448A-47DF-9B7C-2BF0A91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87202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61BE6-E669-4682-AA1F-694D2A47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F7197-3721-4A69-A6F1-1C383AD4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F594D-22AB-4160-B96C-084C5A8C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739AC-1104-46B0-A18F-842E0E59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90321-9F18-446C-8E2D-A6E96C7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STAR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08BD8-C419-4853-8A0E-1F772C01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The Star function is a trust signal, not a standalone backend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B5619-F319-46A9-B543-4686F8F3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In the inspected source, Star is the Lucide icon used to render customer review ratings and the 4.9/5 visual proof badge on the public site.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44CF5-4887-4A4C-A8F2-38137CCA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581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4CB12-ACEC-4D04-B879-0684F365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87104-B566-4BE4-BBB5-FE7ECF5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★★★★★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0A90D-028B-4ECB-8B1B-D5B82F6E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E5E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DE5EF"/>
                </a:solidFill>
                <a:latin typeface="Aptos"/>
                <a:ea typeface="Aptos"/>
                <a:cs typeface="Aptos"/>
              </a:rPr>
              <a:t>Renders star icons for review rows and a 4.9 out of 5 badge.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A1304-D137-4A69-A017-8D9EC4AC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27051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971B4-A90C-4C27-906E-923B93C7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7957"/>
          </a:solidFill>
          <a:ln xmlns:a="http://schemas.openxmlformats.org/drawingml/2006/main" w="9525">
            <a:solidFill>
              <a:srgbClr val="F479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D8A74-3178-43A1-883C-DF98B8C2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575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4486A-09FC-4B35-BB29-DB354A1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861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SiteApp.tsx imports Star from lucide-react.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5B2B4-7879-4D1A-99E0-8815448F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5765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D0AE0-1710-4E74-8047-44E87E84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3053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It maps over review.rating to draw stars and uses five icons for the 4.9/5 summary block.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0643A-D44B-43CF-B9AF-DA69D86E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686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35DF2-071C-4F94-A376-55D6CE17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43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What it is not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9c42b0c0e41fb">
            <a:extLst>
              <a:ext uri="{96DAC541-7B7A-43D3-8B79-37D633B846F1}">
                <asvg:svgBlip xmlns:asvg="http://schemas.microsoft.com/office/drawing/2016/SVG/main" r:embed="R3c1ce431aaf94f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3581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3ACF1-790B-4716-9686-79D89FB3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Not a rating algorithm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916d0a0304cc3">
            <a:extLst>
              <a:ext uri="{96DAC541-7B7A-43D3-8B79-37D633B846F1}">
                <asvg:svgBlip xmlns:asvg="http://schemas.microsoft.com/office/drawing/2016/SVG/main" r:embed="R66a52b33320f48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39052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59DF0-F8EF-4A04-9E51-9BDEA6D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Not a database table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c51ec4d9e4cd9">
            <a:extLst>
              <a:ext uri="{96DAC541-7B7A-43D3-8B79-37D633B846F1}">
                <asvg:svgBlip xmlns:asvg="http://schemas.microsoft.com/office/drawing/2016/SVG/main" r:embed="R40ed206f6f5d43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4229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C4A1C-1921-4154-8EF7-B8EDBAD8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0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Not a dispatch workflow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51b1e43434251">
            <a:extLst>
              <a:ext uri="{96DAC541-7B7A-43D3-8B79-37D633B846F1}">
                <asvg:svgBlip xmlns:asvg="http://schemas.microsoft.com/office/drawing/2016/SVG/main" r:embed="R1f555b711e2447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45529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ED0FC-10DD-4DBC-B717-9E244B9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Not a payment or CMS function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5515E-31BC-4B39-AE11-5F878665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716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E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D89D27-423C-4D87-8240-D340B184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7163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E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F54F81-B495-43B8-9DD5-9A9EBCC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Source: src/SiteApp.tsx Star icon usage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F5864-45C8-44F3-9DE0-0EFB2E8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068703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F0F22-7F8A-4A16-924C-967FB1D8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7DFA5-E98E-4C68-BB6A-B10D0F03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64E6F-5D51-4DEE-A867-B364BEFB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58163-CD01-4273-BB1B-EAF05C2B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62E8A-DD1C-4082-B1C0-A6A58779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TECHNICAL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D187A-1AF5-43FA-8691-D755C285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1417"/>
                </a:solidFill>
                <a:latin typeface="Aptos Display"/>
                <a:ea typeface="Aptos Display"/>
                <a:cs typeface="Aptos Display"/>
              </a:rPr>
              <a:t>React routes compose a storefront, CMS, PWA, and admin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CA067-7C14-4110-8980-216D99CF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572"/>
                </a:solidFill>
                <a:latin typeface="Aptos"/>
                <a:ea typeface="Aptos"/>
                <a:cs typeface="Aptos"/>
              </a:rPr>
              <a:t>The architecture is pragmatic: route-level surfaces share UI primitives, language/theme context, Supabase access patterns, and domain utilities for schedule, catalog, phone, labels, and payments.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477F6-799C-4FDB-8CC9-7FDFC8A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038350" cy="26098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1B531-D0B5-40AB-9FE0-DEC37A3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9DCB2-38E6-4DAC-B0C7-951AC24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Public site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E9EDF-844B-409B-B676-CD52ABE7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F40F6-64EE-4585-9775-1D1DF8E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86888-BE18-4AA3-86F1-9FF06ED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E85FA-917C-4A93-94A4-A5DB8D31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6C42B-53A5-4EAD-9558-9EB7546A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886E3-79E5-460F-9BEC-486FDAC5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D821D-2BCA-4476-A75F-F5E311CA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205AC-F2C1-4013-B353-549FBA95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C2EA8-9B86-4B95-A9F5-3A393A48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9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208E5-78BE-415C-A2B7-EE6848EC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1E629-1470-42B3-ACCF-F1D5C2BF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2038350" cy="26098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9EC9A-0E84-4D6C-A9DE-FEE7DE68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F75E3-8840-4F77-9340-D5473471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6C22F-9B5D-456A-8094-84E4E01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7673E-BCA2-458E-928B-3D5CC2F7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C7CE0-0254-48D0-8C0D-084EF43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C5B84-7213-4A1F-8B37-7013E2FE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Bookings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39FF62-FCBF-4CDC-8A0B-7B344BC9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80E00-3ABC-4C52-9766-2F55F931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Invoices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9D079-1D39-42C0-AB01-5B1DB8BE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451E7-D010-4EE6-ADC1-8E60BB2B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00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9C60EA-16FC-49B2-BF29-C7796AA6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145C52-4DBA-4827-A0CC-C246F847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86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Communication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FAA121-4D12-476E-ADC9-451EDFD1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2038350" cy="26098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3FA4F6-8019-4007-9459-EB687775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FB6DE-85C4-471B-9912-EBF54BD8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CMS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0E4C8-53AD-4722-9579-DB8E03D3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F1176E-C6FA-4CB7-B29E-D7896A9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Tyres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F35CD-5212-4E98-A5C3-5870F98A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F2B034-4FAD-494D-8124-C97BB1DD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Rims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74C7E7-6D9E-4A46-8EDC-709DB39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5C2DE9-A1AF-42B5-8C35-08F8F771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Rescue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A17240-6731-4922-8633-0D692FF4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8935C0-C73D-42C4-A272-B2C1589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09B6B1-1BE6-4F8B-8D82-7DFD896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9C09F0-3B6B-4A2C-857B-3089F02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SEO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E2065F-8950-4CFD-83B0-FD384AE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038350" cy="26098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D7B5FD-284E-49E0-8D9C-E533E94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BD9CCA-E32F-4AD2-8C3F-5C25BEFF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PWA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252D5D-7574-4974-8A79-6802BF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9A0411-F19A-4B4A-8EA4-F51A02D9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43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Rescue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CBA0A7-5EC2-4F2D-80F6-EA5A0E1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92BE8A-3821-4A90-AD49-7E84F11B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29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CB0FED-8F78-4282-9ABE-BE1EC8A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B56EBE-CBCA-44A4-AA81-6FD196E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14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187920-4E5F-4F2B-A29B-AC1ABAE7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E1C166-53F9-4B74-8571-0CFB287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00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DEF68A-54DE-480D-B2C1-E1FBC3F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00E6DF-BE78-40E3-BBAB-50B5631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86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657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6572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28631C-C0BC-4421-84DD-AF2B45DA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67363"/>
            <a:ext cx="782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F84049-47C1-4465-BFA8-762A4C74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72150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1417"/>
                </a:solidFill>
                <a:latin typeface="Aptos"/>
                <a:ea typeface="Aptos"/>
                <a:cs typeface="Aptos"/>
              </a:rPr>
              <a:t>Shared layer: UI components, language/theme context, Supabase utilities, service catalog, tyre-label logic, payment helpers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3B5E0B-B24C-42C2-92A6-5789A38B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Mitra Auto product overview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E1EF18-39B9-45C9-BA86-6A7D84B6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29478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065E7-EDB3-4EC1-9F88-C7DC5F24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9E3F9-4473-4B38-89CE-5472F3F0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79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7957"/>
                </a:solidFill>
                <a:latin typeface="Aptos"/>
                <a:ea typeface="Aptos"/>
                <a:cs typeface="Aptos"/>
              </a:rPr>
              <a:t>STRATEGIC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5381E-96EC-41B7-9422-AA6841E0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opportunity is to turn a service site into an operating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D12F5-0D50-4B0C-A5C2-9A22B3B3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The strongest next step is not adding more pages. It is tightening the loop between demand capture, catalog truth, scheduling capacity, staff handoff, and customer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FEE99-80E7-474B-AF08-5228C7F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4574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333C47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e7014933144e4">
            <a:extLst>
              <a:ext uri="{96DAC541-7B7A-43D3-8B79-37D633B846F1}">
                <asvg:svgBlip xmlns:asvg="http://schemas.microsoft.com/office/drawing/2016/SVG/main" r:embed="R92217926b1934b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78CFB-C45F-4A69-86A0-D77B68C6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1A18-68DD-4D08-8973-CC85048E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Make booking and product selection easier to complete.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B5535-FBA2-4E0D-92EB-00DAD353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24574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333C47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0d0844d9e4ebf">
            <a:extLst>
              <a:ext uri="{96DAC541-7B7A-43D3-8B79-37D633B846F1}">
                <asvg:svgBlip xmlns:asvg="http://schemas.microsoft.com/office/drawing/2016/SVG/main" r:embed="R638b32ad84644d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15E7B-01F4-4A14-931E-2ADD75D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48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32895-CBA9-4B64-B495-5F6F183F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Expose real availability and block unavailable slots fast.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7BD67-F359-44AF-9865-9FE45A52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24574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333C4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b23aac624489a">
            <a:extLst>
              <a:ext uri="{96DAC541-7B7A-43D3-8B79-37D633B846F1}">
                <asvg:svgBlip xmlns:asvg="http://schemas.microsoft.com/office/drawing/2016/SVG/main" r:embed="R7f96f19dbbec47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5320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D468A-02C3-43F5-9E00-F01FA81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AEFB1-FE6A-4DB9-B50C-7ED37734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Use reviews, label data, and clear communication to build trust.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2BEE7-ED03-4118-A2E8-CD5DD6C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4574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333C4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3a9caa8d34e18">
            <a:extLst>
              <a:ext uri="{96DAC541-7B7A-43D3-8B79-37D633B846F1}">
                <asvg:svgBlip xmlns:asvg="http://schemas.microsoft.com/office/drawing/2016/SVG/main" r:embed="R5d6649bc70ec4a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96400" y="33337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0A336-B2DD-4253-96F8-8EF41E82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CE123-7D61-435E-9656-4DB879CE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00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9C3D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9C3D0"/>
                </a:solidFill>
                <a:latin typeface="Aptos"/>
                <a:ea typeface="Aptos"/>
                <a:cs typeface="Aptos"/>
              </a:rPr>
              <a:t>Connect catalog, services, invoices, and checkout into one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46B9D-3481-4AF0-AC17-E405B1D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0FA09-36E7-4A0A-831A-360DE08B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Star function in this story: a small visual element that supports the Quality pillar by making customer proof visible at the moment of evaluation.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CEA4D-6514-4FB6-A924-08A1AC8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4A3"/>
                </a:solidFill>
                <a:latin typeface="Aptos"/>
                <a:ea typeface="Aptos"/>
                <a:cs typeface="Aptos"/>
              </a:rPr>
              <a:t>Mitra Auto product overview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52346-5448-418B-BE94-60DAC679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A94A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A94A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8069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2026-05-01T20:52:25.6260000Z</dcterms:created>
  <dcterms:modified xsi:type="dcterms:W3CDTF">2026-05-01T20:52:25.6260000Z</dcterms:modified>
</coreProperties>
</file>